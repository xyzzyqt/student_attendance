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4b989fa-4311-8fcf-3006-61e58b2e9c94}">
          <p14:sldIdLst>
            <p14:sldId id="256"/>
            <p14:sldId id="257"/>
          </p14:sldIdLst>
        </p14:section>
        <p14:section name="Design" id="{6dae5d05-2528-703e-343d-d2a74a3b9f83}">
          <p14:sldIdLst>
            <p14:sldId id="258"/>
            <p14:sldId id="259"/>
          </p14:sldIdLst>
        </p14:section>
        <p14:section name="Application" id="{90bf0264-ebaf-ea3e-4cef-756c2de90857}">
          <p14:sldIdLst>
            <p14:sldId id="260"/>
            <p14:sldId id="261"/>
            <p14:sldId id="262"/>
          </p14:sldIdLst>
        </p14:section>
        <p14:section name="Conclusion" id="{fdac3c94-d170-e214-0114-645e62508eb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responsive ReactJS app for teachers to record daily attendance, see each student's percentage and quickly find students below the required attendance.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manual attendance is error-prone and list the four objectives of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where each required React concept is used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main.jsx wraps the app in the router and the context provider. Pages read and update the shared state through the useAttendance()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this flow live: add a student, mark today's attendance, then open the Reports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validation: duplicate roll number, invalid name, missing class, wrong email. Then mark a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the threshold slider during the demo to show the low-attendance list updating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and invite questions. Replace the GitHub link with your repository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206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023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0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0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Student Attendance Tracker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ReactJS application to record attendance, calculate percentages and flag low attendance</a:t>
            </a:r>
            <a:endParaRPr lang="en-US" sz="1600" dirty="0"/>
          </a:p>
        </p:txBody>
      </p:sp>
      <p:sp>
        <p:nvSpPr>
          <p:cNvPr id="4" name="presenter"/>
          <p:cNvSpPr txBox="1"/>
          <p:nvPr/>
        </p:nvSpPr>
        <p:spPr>
          <a:xfrm>
            <a:off x="548640" y="4160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Presented by: ____________   ·   Roll No: ________</a:t>
            </a:r>
            <a:endParaRPr lang="en-US" sz="1200" dirty="0"/>
          </a:p>
        </p:txBody>
      </p:sp>
      <p:sp>
        <p:nvSpPr>
          <p:cNvPr id="5" name="tag"/>
          <p:cNvSpPr/>
          <p:nvPr/>
        </p:nvSpPr>
        <p:spPr>
          <a:xfrm>
            <a:off x="548640" y="640080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ag text"/>
          <p:cNvSpPr txBox="1"/>
          <p:nvPr/>
        </p:nvSpPr>
        <p:spPr>
          <a:xfrm>
            <a:off x="548640" y="640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ReactJS Project</a:t>
            </a:r>
            <a:endParaRPr lang="en-US" sz="1200" dirty="0"/>
          </a:p>
        </p:txBody>
      </p:sp>
      <p:sp>
        <p:nvSpPr>
          <p:cNvPr id="7" name="Dashboard screenshot frame"/>
          <p:cNvSpPr/>
          <p:nvPr/>
        </p:nvSpPr>
        <p:spPr>
          <a:xfrm>
            <a:off x="4901184" y="1014984"/>
            <a:ext cx="3913632" cy="2353437"/>
          </a:xfrm>
          <a:prstGeom prst="roundRect">
            <a:avLst>
              <a:gd name="adj" fmla="val 3108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pic>
        <p:nvPicPr>
          <p:cNvPr id="8" name="Dashboard screenshot" descr="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51560"/>
            <a:ext cx="384048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 and objectives</a:t>
            </a:r>
            <a:endParaRPr lang="en-US" sz="30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3566160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4" name="problem text"/>
          <p:cNvSpPr txBox="1"/>
          <p:nvPr/>
        </p:nvSpPr>
        <p:spPr>
          <a:xfrm>
            <a:off x="685800" y="1371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Paper registers make it slow to total attendance and easy to miss students who fall below the required percentage until it is too late.</a:t>
            </a:r>
            <a:endParaRPr lang="en-US" sz="1800" dirty="0"/>
          </a:p>
        </p:txBody>
      </p:sp>
      <p:sp>
        <p:nvSpPr>
          <p:cNvPr id="5" name="stat"/>
          <p:cNvSpPr txBox="1"/>
          <p:nvPr/>
        </p:nvSpPr>
        <p:spPr>
          <a:xfrm>
            <a:off x="685800" y="2926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800" dirty="0"/>
          </a:p>
        </p:txBody>
      </p:sp>
      <p:sp>
        <p:nvSpPr>
          <p:cNvPr id="6" name="stat label"/>
          <p:cNvSpPr txBox="1"/>
          <p:nvPr/>
        </p:nvSpPr>
        <p:spPr>
          <a:xfrm>
            <a:off x="68580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typical minimum attendance rule the app checks against (adjustable)</a:t>
            </a:r>
            <a:endParaRPr lang="en-US" sz="1100" dirty="0"/>
          </a:p>
        </p:txBody>
      </p:sp>
      <p:sp>
        <p:nvSpPr>
          <p:cNvPr id="7" name="obj 1 circle"/>
          <p:cNvSpPr/>
          <p:nvPr/>
        </p:nvSpPr>
        <p:spPr>
          <a:xfrm>
            <a:off x="438912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obj 1 num"/>
          <p:cNvSpPr txBox="1"/>
          <p:nvPr/>
        </p:nvSpPr>
        <p:spPr>
          <a:xfrm>
            <a:off x="43891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obj 1 text"/>
          <p:cNvSpPr txBox="1"/>
          <p:nvPr/>
        </p:nvSpPr>
        <p:spPr>
          <a:xfrm>
            <a:off x="5074920" y="11887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Mark Present / Late / Absent for any class and date, with bulk actions.</a:t>
            </a:r>
            <a:endParaRPr lang="en-US" sz="1500" dirty="0"/>
          </a:p>
        </p:txBody>
      </p:sp>
      <p:sp>
        <p:nvSpPr>
          <p:cNvPr id="10" name="obj 2 circle"/>
          <p:cNvSpPr/>
          <p:nvPr/>
        </p:nvSpPr>
        <p:spPr>
          <a:xfrm>
            <a:off x="4389120" y="20756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obj 2 num"/>
          <p:cNvSpPr txBox="1"/>
          <p:nvPr/>
        </p:nvSpPr>
        <p:spPr>
          <a:xfrm>
            <a:off x="438912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obj 2 text"/>
          <p:cNvSpPr txBox="1"/>
          <p:nvPr/>
        </p:nvSpPr>
        <p:spPr>
          <a:xfrm>
            <a:off x="5074920" y="202996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Calculate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Compute each student's attendance percentage automatically.</a:t>
            </a:r>
            <a:endParaRPr lang="en-US" sz="1500" dirty="0"/>
          </a:p>
        </p:txBody>
      </p:sp>
      <p:sp>
        <p:nvSpPr>
          <p:cNvPr id="13" name="obj 3 circle"/>
          <p:cNvSpPr/>
          <p:nvPr/>
        </p:nvSpPr>
        <p:spPr>
          <a:xfrm>
            <a:off x="4389120" y="29169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obj 3 num"/>
          <p:cNvSpPr txBox="1"/>
          <p:nvPr/>
        </p:nvSpPr>
        <p:spPr>
          <a:xfrm>
            <a:off x="438912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obj 3 text"/>
          <p:cNvSpPr txBox="1"/>
          <p:nvPr/>
        </p:nvSpPr>
        <p:spPr>
          <a:xfrm>
            <a:off x="5074920" y="287121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Flag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List students below the threshold and how many classes they need.</a:t>
            </a:r>
            <a:endParaRPr lang="en-US" sz="1500" dirty="0"/>
          </a:p>
        </p:txBody>
      </p:sp>
      <p:sp>
        <p:nvSpPr>
          <p:cNvPr id="16" name="obj 4 circle"/>
          <p:cNvSpPr/>
          <p:nvPr/>
        </p:nvSpPr>
        <p:spPr>
          <a:xfrm>
            <a:off x="4389120" y="37581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obj 4 num"/>
          <p:cNvSpPr txBox="1"/>
          <p:nvPr/>
        </p:nvSpPr>
        <p:spPr>
          <a:xfrm>
            <a:off x="438912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obj 4 text"/>
          <p:cNvSpPr txBox="1"/>
          <p:nvPr/>
        </p:nvSpPr>
        <p:spPr>
          <a:xfrm>
            <a:off x="5074920" y="371246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Manage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Add, edit, delete, search and filter students with validation.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0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Technologies and React concepts used</a:t>
            </a:r>
            <a:endParaRPr lang="en-US" sz="3000" dirty="0"/>
          </a:p>
        </p:txBody>
      </p:sp>
      <p:sp>
        <p:nvSpPr>
          <p:cNvPr id="3" name="tech 1 card"/>
          <p:cNvSpPr/>
          <p:nvPr/>
        </p:nvSpPr>
        <p:spPr>
          <a:xfrm>
            <a:off x="457200" y="1188720"/>
            <a:ext cx="2615184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sp>
        <p:nvSpPr>
          <p:cNvPr id="4" name="tech 1 dot"/>
          <p:cNvSpPr/>
          <p:nvPr/>
        </p:nvSpPr>
        <p:spPr>
          <a:xfrm>
            <a:off x="658368" y="138988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ch 1 head"/>
          <p:cNvSpPr txBox="1"/>
          <p:nvPr/>
        </p:nvSpPr>
        <p:spPr>
          <a:xfrm>
            <a:off x="1051560" y="1353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Components &amp; JSX</a:t>
            </a:r>
            <a:endParaRPr lang="en-US" sz="1500" dirty="0"/>
          </a:p>
        </p:txBody>
      </p:sp>
      <p:sp>
        <p:nvSpPr>
          <p:cNvPr id="6" name="tech 1 body"/>
          <p:cNvSpPr txBox="1"/>
          <p:nvPr/>
        </p:nvSpPr>
        <p:spPr>
          <a:xfrm>
            <a:off x="658368" y="181051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Pages and reusable parts: Navbar, StudentForm, StatCard, ProgressBar, ConfirmDialog, Toast</a:t>
            </a:r>
            <a:endParaRPr lang="en-US" sz="1200" dirty="0"/>
          </a:p>
        </p:txBody>
      </p:sp>
      <p:sp>
        <p:nvSpPr>
          <p:cNvPr id="7" name="tech 2 card"/>
          <p:cNvSpPr/>
          <p:nvPr/>
        </p:nvSpPr>
        <p:spPr>
          <a:xfrm>
            <a:off x="3264408" y="1188720"/>
            <a:ext cx="2615184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sp>
        <p:nvSpPr>
          <p:cNvPr id="8" name="tech 2 dot"/>
          <p:cNvSpPr/>
          <p:nvPr/>
        </p:nvSpPr>
        <p:spPr>
          <a:xfrm>
            <a:off x="3465576" y="138988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ch 2 head"/>
          <p:cNvSpPr txBox="1"/>
          <p:nvPr/>
        </p:nvSpPr>
        <p:spPr>
          <a:xfrm>
            <a:off x="3858768" y="1353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useState</a:t>
            </a:r>
            <a:endParaRPr lang="en-US" sz="1500" dirty="0"/>
          </a:p>
        </p:txBody>
      </p:sp>
      <p:sp>
        <p:nvSpPr>
          <p:cNvPr id="10" name="tech 2 body"/>
          <p:cNvSpPr txBox="1"/>
          <p:nvPr/>
        </p:nvSpPr>
        <p:spPr>
          <a:xfrm>
            <a:off x="3465576" y="181051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 values, errors, filters, search text, attendance marks, threshold</a:t>
            </a:r>
            <a:endParaRPr lang="en-US" sz="1200" dirty="0"/>
          </a:p>
        </p:txBody>
      </p:sp>
      <p:sp>
        <p:nvSpPr>
          <p:cNvPr id="11" name="tech 3 card"/>
          <p:cNvSpPr/>
          <p:nvPr/>
        </p:nvSpPr>
        <p:spPr>
          <a:xfrm>
            <a:off x="6071616" y="1188720"/>
            <a:ext cx="2615184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sp>
        <p:nvSpPr>
          <p:cNvPr id="12" name="tech 3 dot"/>
          <p:cNvSpPr/>
          <p:nvPr/>
        </p:nvSpPr>
        <p:spPr>
          <a:xfrm>
            <a:off x="6272784" y="138988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ch 3 head"/>
          <p:cNvSpPr txBox="1"/>
          <p:nvPr/>
        </p:nvSpPr>
        <p:spPr>
          <a:xfrm>
            <a:off x="6665976" y="1353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useEffect</a:t>
            </a:r>
            <a:endParaRPr lang="en-US" sz="1500" dirty="0"/>
          </a:p>
        </p:txBody>
      </p:sp>
      <p:sp>
        <p:nvSpPr>
          <p:cNvPr id="14" name="tech 3 body"/>
          <p:cNvSpPr txBox="1"/>
          <p:nvPr/>
        </p:nvSpPr>
        <p:spPr>
          <a:xfrm>
            <a:off x="6272784" y="181051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 data to localStorage, auto-hide toasts, Escape key for dialog, load existing marks</a:t>
            </a:r>
            <a:endParaRPr lang="en-US" sz="1200" dirty="0"/>
          </a:p>
        </p:txBody>
      </p:sp>
      <p:sp>
        <p:nvSpPr>
          <p:cNvPr id="15" name="tech 4 card"/>
          <p:cNvSpPr/>
          <p:nvPr/>
        </p:nvSpPr>
        <p:spPr>
          <a:xfrm>
            <a:off x="457200" y="2880360"/>
            <a:ext cx="2615184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sp>
        <p:nvSpPr>
          <p:cNvPr id="16" name="tech 4 dot"/>
          <p:cNvSpPr/>
          <p:nvPr/>
        </p:nvSpPr>
        <p:spPr>
          <a:xfrm>
            <a:off x="658368" y="308152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ch 4 head"/>
          <p:cNvSpPr txBox="1"/>
          <p:nvPr/>
        </p:nvSpPr>
        <p:spPr>
          <a:xfrm>
            <a:off x="105156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React Router</a:t>
            </a:r>
            <a:endParaRPr lang="en-US" sz="1500" dirty="0"/>
          </a:p>
        </p:txBody>
      </p:sp>
      <p:sp>
        <p:nvSpPr>
          <p:cNvPr id="18" name="tech 4 body"/>
          <p:cNvSpPr txBox="1"/>
          <p:nvPr/>
        </p:nvSpPr>
        <p:spPr>
          <a:xfrm>
            <a:off x="658368" y="350215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Four pages: Dashboard, Students, Mark Attendance, Reports (+ 404 page)</a:t>
            </a:r>
            <a:endParaRPr lang="en-US" sz="1200" dirty="0"/>
          </a:p>
        </p:txBody>
      </p:sp>
      <p:sp>
        <p:nvSpPr>
          <p:cNvPr id="19" name="tech 5 card"/>
          <p:cNvSpPr/>
          <p:nvPr/>
        </p:nvSpPr>
        <p:spPr>
          <a:xfrm>
            <a:off x="3264408" y="2880360"/>
            <a:ext cx="2615184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sp>
        <p:nvSpPr>
          <p:cNvPr id="20" name="tech 5 dot"/>
          <p:cNvSpPr/>
          <p:nvPr/>
        </p:nvSpPr>
        <p:spPr>
          <a:xfrm>
            <a:off x="3465576" y="308152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ch 5 head"/>
          <p:cNvSpPr txBox="1"/>
          <p:nvPr/>
        </p:nvSpPr>
        <p:spPr>
          <a:xfrm>
            <a:off x="3858768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Context API</a:t>
            </a:r>
            <a:endParaRPr lang="en-US" sz="1500" dirty="0"/>
          </a:p>
        </p:txBody>
      </p:sp>
      <p:sp>
        <p:nvSpPr>
          <p:cNvPr id="22" name="tech 5 body"/>
          <p:cNvSpPr txBox="1"/>
          <p:nvPr/>
        </p:nvSpPr>
        <p:spPr>
          <a:xfrm>
            <a:off x="3465576" y="350215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AttendanceContext shares students, records and actions across pages</a:t>
            </a:r>
            <a:endParaRPr lang="en-US" sz="1200" dirty="0"/>
          </a:p>
        </p:txBody>
      </p:sp>
      <p:sp>
        <p:nvSpPr>
          <p:cNvPr id="23" name="tech 6 card"/>
          <p:cNvSpPr/>
          <p:nvPr/>
        </p:nvSpPr>
        <p:spPr>
          <a:xfrm>
            <a:off x="6071616" y="2880360"/>
            <a:ext cx="2615184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sp>
        <p:nvSpPr>
          <p:cNvPr id="24" name="tech 6 dot"/>
          <p:cNvSpPr/>
          <p:nvPr/>
        </p:nvSpPr>
        <p:spPr>
          <a:xfrm>
            <a:off x="6272784" y="308152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ch 6 head"/>
          <p:cNvSpPr txBox="1"/>
          <p:nvPr/>
        </p:nvSpPr>
        <p:spPr>
          <a:xfrm>
            <a:off x="6665976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HTML5 · CSS3 · ES6</a:t>
            </a:r>
            <a:endParaRPr lang="en-US" sz="1500" dirty="0"/>
          </a:p>
        </p:txBody>
      </p:sp>
      <p:sp>
        <p:nvSpPr>
          <p:cNvPr id="26" name="tech 6 body"/>
          <p:cNvSpPr txBox="1"/>
          <p:nvPr/>
        </p:nvSpPr>
        <p:spPr>
          <a:xfrm>
            <a:off x="6272784" y="350215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Semantic forms, CSS Grid/Flexbox, media queries; arrow functions, destructuring, spread, modules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0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Application structure</a:t>
            </a:r>
            <a:endParaRPr lang="en-US" sz="3000" dirty="0"/>
          </a:p>
        </p:txBody>
      </p:sp>
      <p:sp>
        <p:nvSpPr>
          <p:cNvPr id="3" name="root"/>
          <p:cNvSpPr/>
          <p:nvPr/>
        </p:nvSpPr>
        <p:spPr>
          <a:xfrm>
            <a:off x="457200" y="1188720"/>
            <a:ext cx="51206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4" name="root text"/>
          <p:cNvSpPr txBox="1"/>
          <p:nvPr/>
        </p:nvSpPr>
        <p:spPr>
          <a:xfrm>
            <a:off x="457200" y="1188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main.jsx  →  BrowserRouter + AttendanceProvider</a:t>
            </a:r>
            <a:endParaRPr lang="en-US" sz="1300" dirty="0"/>
          </a:p>
        </p:txBody>
      </p:sp>
      <p:sp>
        <p:nvSpPr>
          <p:cNvPr id="5" name="l1"/>
          <p:cNvSpPr/>
          <p:nvPr/>
        </p:nvSpPr>
        <p:spPr>
          <a:xfrm>
            <a:off x="3017520" y="1645920"/>
            <a:ext cx="914" cy="228600"/>
          </a:xfrm>
          <a:prstGeom prst="line">
            <a:avLst/>
          </a:prstGeom>
          <a:noFill/>
          <a:ln w="15875">
            <a:solidFill>
              <a:srgbClr val="9FB0C6"/>
            </a:solidFill>
            <a:prstDash val="solid"/>
          </a:ln>
        </p:spPr>
      </p:sp>
      <p:sp>
        <p:nvSpPr>
          <p:cNvPr id="6" name="app"/>
          <p:cNvSpPr/>
          <p:nvPr/>
        </p:nvSpPr>
        <p:spPr>
          <a:xfrm>
            <a:off x="1188720" y="1874520"/>
            <a:ext cx="3657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7" name="app text"/>
          <p:cNvSpPr txBox="1"/>
          <p:nvPr/>
        </p:nvSpPr>
        <p:spPr>
          <a:xfrm>
            <a:off x="11887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App.jsx  (Navbar · Routes · Toast)</a:t>
            </a:r>
            <a:endParaRPr lang="en-US" sz="1300" dirty="0"/>
          </a:p>
        </p:txBody>
      </p:sp>
      <p:sp>
        <p:nvSpPr>
          <p:cNvPr id="8" name="l2"/>
          <p:cNvSpPr/>
          <p:nvPr/>
        </p:nvSpPr>
        <p:spPr>
          <a:xfrm>
            <a:off x="3017520" y="2331720"/>
            <a:ext cx="914" cy="228600"/>
          </a:xfrm>
          <a:prstGeom prst="line">
            <a:avLst/>
          </a:prstGeom>
          <a:noFill/>
          <a:ln w="15875">
            <a:solidFill>
              <a:srgbClr val="9FB0C6"/>
            </a:solidFill>
            <a:prstDash val="solid"/>
          </a:ln>
        </p:spPr>
      </p:sp>
      <p:sp>
        <p:nvSpPr>
          <p:cNvPr id="9" name="l3"/>
          <p:cNvSpPr/>
          <p:nvPr/>
        </p:nvSpPr>
        <p:spPr>
          <a:xfrm>
            <a:off x="1051560" y="2560320"/>
            <a:ext cx="3931920" cy="914"/>
          </a:xfrm>
          <a:prstGeom prst="line">
            <a:avLst/>
          </a:prstGeom>
          <a:noFill/>
          <a:ln w="15875">
            <a:solidFill>
              <a:srgbClr val="9FB0C6"/>
            </a:solidFill>
            <a:prstDash val="solid"/>
          </a:ln>
        </p:spPr>
      </p:sp>
      <p:sp>
        <p:nvSpPr>
          <p:cNvPr id="10" name="lp0"/>
          <p:cNvSpPr/>
          <p:nvPr/>
        </p:nvSpPr>
        <p:spPr>
          <a:xfrm>
            <a:off x="1051560" y="2560320"/>
            <a:ext cx="914" cy="182880"/>
          </a:xfrm>
          <a:prstGeom prst="line">
            <a:avLst/>
          </a:prstGeom>
          <a:noFill/>
          <a:ln w="15875">
            <a:solidFill>
              <a:srgbClr val="9FB0C6"/>
            </a:solidFill>
            <a:prstDash val="solid"/>
          </a:ln>
        </p:spPr>
      </p:sp>
      <p:sp>
        <p:nvSpPr>
          <p:cNvPr id="11" name="page Dashboard"/>
          <p:cNvSpPr/>
          <p:nvPr/>
        </p:nvSpPr>
        <p:spPr>
          <a:xfrm>
            <a:off x="457200" y="274320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</p:sp>
      <p:sp>
        <p:nvSpPr>
          <p:cNvPr id="12" name="page Dashboard text"/>
          <p:cNvSpPr txBox="1"/>
          <p:nvPr/>
        </p:nvSpPr>
        <p:spPr>
          <a:xfrm>
            <a:off x="45720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3" name="lp1"/>
          <p:cNvSpPr/>
          <p:nvPr/>
        </p:nvSpPr>
        <p:spPr>
          <a:xfrm>
            <a:off x="2359152" y="2560320"/>
            <a:ext cx="914" cy="182880"/>
          </a:xfrm>
          <a:prstGeom prst="line">
            <a:avLst/>
          </a:prstGeom>
          <a:noFill/>
          <a:ln w="15875">
            <a:solidFill>
              <a:srgbClr val="9FB0C6"/>
            </a:solidFill>
            <a:prstDash val="solid"/>
          </a:ln>
        </p:spPr>
      </p:sp>
      <p:sp>
        <p:nvSpPr>
          <p:cNvPr id="14" name="page Students"/>
          <p:cNvSpPr/>
          <p:nvPr/>
        </p:nvSpPr>
        <p:spPr>
          <a:xfrm>
            <a:off x="1764792" y="274320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</p:sp>
      <p:sp>
        <p:nvSpPr>
          <p:cNvPr id="15" name="page Students text"/>
          <p:cNvSpPr txBox="1"/>
          <p:nvPr/>
        </p:nvSpPr>
        <p:spPr>
          <a:xfrm>
            <a:off x="1764792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Students</a:t>
            </a:r>
            <a:endParaRPr lang="en-US" sz="1200" dirty="0"/>
          </a:p>
        </p:txBody>
      </p:sp>
      <p:sp>
        <p:nvSpPr>
          <p:cNvPr id="16" name="lp2"/>
          <p:cNvSpPr/>
          <p:nvPr/>
        </p:nvSpPr>
        <p:spPr>
          <a:xfrm>
            <a:off x="3666744" y="2560320"/>
            <a:ext cx="914" cy="182880"/>
          </a:xfrm>
          <a:prstGeom prst="line">
            <a:avLst/>
          </a:prstGeom>
          <a:noFill/>
          <a:ln w="15875">
            <a:solidFill>
              <a:srgbClr val="9FB0C6"/>
            </a:solidFill>
            <a:prstDash val="solid"/>
          </a:ln>
        </p:spPr>
      </p:sp>
      <p:sp>
        <p:nvSpPr>
          <p:cNvPr id="17" name="page Mark Attendance"/>
          <p:cNvSpPr/>
          <p:nvPr/>
        </p:nvSpPr>
        <p:spPr>
          <a:xfrm>
            <a:off x="3072384" y="274320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</p:sp>
      <p:sp>
        <p:nvSpPr>
          <p:cNvPr id="18" name="page Mark Attendance text"/>
          <p:cNvSpPr txBox="1"/>
          <p:nvPr/>
        </p:nvSpPr>
        <p:spPr>
          <a:xfrm>
            <a:off x="3072384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Attendance</a:t>
            </a:r>
            <a:endParaRPr lang="en-US" sz="1200" dirty="0"/>
          </a:p>
        </p:txBody>
      </p:sp>
      <p:sp>
        <p:nvSpPr>
          <p:cNvPr id="19" name="lp3"/>
          <p:cNvSpPr/>
          <p:nvPr/>
        </p:nvSpPr>
        <p:spPr>
          <a:xfrm>
            <a:off x="4974336" y="2560320"/>
            <a:ext cx="914" cy="182880"/>
          </a:xfrm>
          <a:prstGeom prst="line">
            <a:avLst/>
          </a:prstGeom>
          <a:noFill/>
          <a:ln w="15875">
            <a:solidFill>
              <a:srgbClr val="9FB0C6"/>
            </a:solidFill>
            <a:prstDash val="solid"/>
          </a:ln>
        </p:spPr>
      </p:sp>
      <p:sp>
        <p:nvSpPr>
          <p:cNvPr id="20" name="page Reports"/>
          <p:cNvSpPr/>
          <p:nvPr/>
        </p:nvSpPr>
        <p:spPr>
          <a:xfrm>
            <a:off x="4379976" y="274320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</p:sp>
      <p:sp>
        <p:nvSpPr>
          <p:cNvPr id="21" name="page Reports text"/>
          <p:cNvSpPr txBox="1"/>
          <p:nvPr/>
        </p:nvSpPr>
        <p:spPr>
          <a:xfrm>
            <a:off x="4379976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Reports</a:t>
            </a:r>
            <a:endParaRPr lang="en-US" sz="1200" dirty="0"/>
          </a:p>
        </p:txBody>
      </p:sp>
      <p:sp>
        <p:nvSpPr>
          <p:cNvPr id="22" name="components"/>
          <p:cNvSpPr/>
          <p:nvPr/>
        </p:nvSpPr>
        <p:spPr>
          <a:xfrm>
            <a:off x="457200" y="3657600"/>
            <a:ext cx="51206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3" name="components text"/>
          <p:cNvSpPr txBox="1"/>
          <p:nvPr/>
        </p:nvSpPr>
        <p:spPr>
          <a:xfrm>
            <a:off x="457200" y="3657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Shared components: StudentForm · StatCard · ProgressBar · ConfirmDialog · EmptyState</a:t>
            </a:r>
            <a:endParaRPr lang="en-US" sz="1200" dirty="0"/>
          </a:p>
        </p:txBody>
      </p:sp>
      <p:sp>
        <p:nvSpPr>
          <p:cNvPr id="24" name="state card"/>
          <p:cNvSpPr/>
          <p:nvPr/>
        </p:nvSpPr>
        <p:spPr>
          <a:xfrm>
            <a:off x="5943600" y="1188720"/>
            <a:ext cx="2743200" cy="31546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5" name="state text"/>
          <p:cNvSpPr txBox="1"/>
          <p:nvPr/>
        </p:nvSpPr>
        <p:spPr>
          <a:xfrm>
            <a:off x="6126480" y="132588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AttendanceContext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students[ ]  –  roll no, name, class, email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records{ date: { studentId: P | L | A } }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threshold  –  required 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add / update / delete student, save attendance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useEffect → localStorage on every change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0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Application workflow</a:t>
            </a:r>
            <a:endParaRPr lang="en-US" sz="3000" dirty="0"/>
          </a:p>
        </p:txBody>
      </p:sp>
      <p:sp>
        <p:nvSpPr>
          <p:cNvPr id="3" name="step 1 card"/>
          <p:cNvSpPr/>
          <p:nvPr/>
        </p:nvSpPr>
        <p:spPr>
          <a:xfrm>
            <a:off x="457200" y="1417320"/>
            <a:ext cx="1481328" cy="210312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4" name="step 1 circle"/>
          <p:cNvSpPr/>
          <p:nvPr/>
        </p:nvSpPr>
        <p:spPr>
          <a:xfrm>
            <a:off x="621792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1 num"/>
          <p:cNvSpPr txBox="1"/>
          <p:nvPr/>
        </p:nvSpPr>
        <p:spPr>
          <a:xfrm>
            <a:off x="62179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1 text"/>
          <p:cNvSpPr txBox="1"/>
          <p:nvPr/>
        </p:nvSpPr>
        <p:spPr>
          <a:xfrm>
            <a:off x="621792" y="219456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Add students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Roll no, name, class, email with validation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1975104" y="2331720"/>
            <a:ext cx="128016" cy="274320"/>
          </a:xfrm>
          <a:prstGeom prst="chevron">
            <a:avLst/>
          </a:prstGeom>
          <a:solidFill>
            <a:srgbClr val="9FB0C6"/>
          </a:solidFill>
          <a:ln/>
        </p:spPr>
      </p:sp>
      <p:sp>
        <p:nvSpPr>
          <p:cNvPr id="8" name="step 2 card"/>
          <p:cNvSpPr/>
          <p:nvPr/>
        </p:nvSpPr>
        <p:spPr>
          <a:xfrm>
            <a:off x="2139696" y="1417320"/>
            <a:ext cx="1481328" cy="210312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9" name="step 2 circle"/>
          <p:cNvSpPr/>
          <p:nvPr/>
        </p:nvSpPr>
        <p:spPr>
          <a:xfrm>
            <a:off x="2304288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2 num"/>
          <p:cNvSpPr txBox="1"/>
          <p:nvPr/>
        </p:nvSpPr>
        <p:spPr>
          <a:xfrm>
            <a:off x="230428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2 text"/>
          <p:cNvSpPr txBox="1"/>
          <p:nvPr/>
        </p:nvSpPr>
        <p:spPr>
          <a:xfrm>
            <a:off x="2304288" y="219456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Choose date &amp; class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Today by default; future dates blocked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3657600" y="2331720"/>
            <a:ext cx="128016" cy="274320"/>
          </a:xfrm>
          <a:prstGeom prst="chevron">
            <a:avLst/>
          </a:prstGeom>
          <a:solidFill>
            <a:srgbClr val="9FB0C6"/>
          </a:solidFill>
          <a:ln/>
        </p:spPr>
      </p:sp>
      <p:sp>
        <p:nvSpPr>
          <p:cNvPr id="13" name="step 3 card"/>
          <p:cNvSpPr/>
          <p:nvPr/>
        </p:nvSpPr>
        <p:spPr>
          <a:xfrm>
            <a:off x="3822192" y="1417320"/>
            <a:ext cx="1481328" cy="210312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14" name="step 3 circle"/>
          <p:cNvSpPr/>
          <p:nvPr/>
        </p:nvSpPr>
        <p:spPr>
          <a:xfrm>
            <a:off x="3986784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 3 num"/>
          <p:cNvSpPr txBox="1"/>
          <p:nvPr/>
        </p:nvSpPr>
        <p:spPr>
          <a:xfrm>
            <a:off x="398678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 3 text"/>
          <p:cNvSpPr txBox="1"/>
          <p:nvPr/>
        </p:nvSpPr>
        <p:spPr>
          <a:xfrm>
            <a:off x="3986784" y="219456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Mark P / L / 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Per student or All present, then save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5340096" y="2331720"/>
            <a:ext cx="128016" cy="274320"/>
          </a:xfrm>
          <a:prstGeom prst="chevron">
            <a:avLst/>
          </a:prstGeom>
          <a:solidFill>
            <a:srgbClr val="9FB0C6"/>
          </a:solidFill>
          <a:ln/>
        </p:spPr>
      </p:sp>
      <p:sp>
        <p:nvSpPr>
          <p:cNvPr id="18" name="step 4 card"/>
          <p:cNvSpPr/>
          <p:nvPr/>
        </p:nvSpPr>
        <p:spPr>
          <a:xfrm>
            <a:off x="5504688" y="1417320"/>
            <a:ext cx="1481328" cy="210312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19" name="step 4 circle"/>
          <p:cNvSpPr/>
          <p:nvPr/>
        </p:nvSpPr>
        <p:spPr>
          <a:xfrm>
            <a:off x="56692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4 num"/>
          <p:cNvSpPr txBox="1"/>
          <p:nvPr/>
        </p:nvSpPr>
        <p:spPr>
          <a:xfrm>
            <a:off x="56692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 4 text"/>
          <p:cNvSpPr txBox="1"/>
          <p:nvPr/>
        </p:nvSpPr>
        <p:spPr>
          <a:xfrm>
            <a:off x="5669280" y="219456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Calculate 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(Present + Late) ÷ Total × 100</a:t>
            </a:r>
            <a:endParaRPr lang="en-US" sz="1400" dirty="0"/>
          </a:p>
        </p:txBody>
      </p:sp>
      <p:sp>
        <p:nvSpPr>
          <p:cNvPr id="22" name="arrow 4"/>
          <p:cNvSpPr/>
          <p:nvPr/>
        </p:nvSpPr>
        <p:spPr>
          <a:xfrm>
            <a:off x="7022592" y="2331720"/>
            <a:ext cx="128016" cy="274320"/>
          </a:xfrm>
          <a:prstGeom prst="chevron">
            <a:avLst/>
          </a:prstGeom>
          <a:solidFill>
            <a:srgbClr val="9FB0C6"/>
          </a:solidFill>
          <a:ln/>
        </p:spPr>
      </p:sp>
      <p:sp>
        <p:nvSpPr>
          <p:cNvPr id="23" name="step 5 card"/>
          <p:cNvSpPr/>
          <p:nvPr/>
        </p:nvSpPr>
        <p:spPr>
          <a:xfrm>
            <a:off x="7187184" y="1417320"/>
            <a:ext cx="1481328" cy="2103120"/>
          </a:xfrm>
          <a:prstGeom prst="roundRect">
            <a:avLst>
              <a:gd name="adj" fmla="val 6173"/>
            </a:avLst>
          </a:prstGeom>
          <a:solidFill>
            <a:schemeClr val="accent1"/>
          </a:solidFill>
          <a:ln/>
        </p:spPr>
      </p:sp>
      <p:sp>
        <p:nvSpPr>
          <p:cNvPr id="24" name="step 5 circle"/>
          <p:cNvSpPr/>
          <p:nvPr/>
        </p:nvSpPr>
        <p:spPr>
          <a:xfrm>
            <a:off x="7351776" y="160020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step 5 num"/>
          <p:cNvSpPr txBox="1"/>
          <p:nvPr/>
        </p:nvSpPr>
        <p:spPr>
          <a:xfrm>
            <a:off x="735177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tep 5 text"/>
          <p:cNvSpPr txBox="1"/>
          <p:nvPr/>
        </p:nvSpPr>
        <p:spPr>
          <a:xfrm>
            <a:off x="7351776" y="219456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Review reports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Low-attendance list, filters, CSV export</a:t>
            </a:r>
            <a:endParaRPr lang="en-US" sz="1400" dirty="0"/>
          </a:p>
        </p:txBody>
      </p:sp>
      <p:sp>
        <p:nvSpPr>
          <p:cNvPr id="27" name="workflow note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Every save updates React state → percentages and the dashboard re-render instantly → useEffect persists the data to localStorage.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0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Managing students and marking attendance</a:t>
            </a:r>
            <a:endParaRPr lang="en-US" sz="3000" dirty="0"/>
          </a:p>
        </p:txBody>
      </p:sp>
      <p:sp>
        <p:nvSpPr>
          <p:cNvPr id="3" name="Students page frame"/>
          <p:cNvSpPr/>
          <p:nvPr/>
        </p:nvSpPr>
        <p:spPr>
          <a:xfrm>
            <a:off x="420624" y="1152144"/>
            <a:ext cx="4050792" cy="2434876"/>
          </a:xfrm>
          <a:prstGeom prst="roundRect">
            <a:avLst>
              <a:gd name="adj" fmla="val 3004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pic>
        <p:nvPicPr>
          <p:cNvPr id="4" name="Students page" descr="Students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77640" cy="2361724"/>
          </a:xfrm>
          <a:prstGeom prst="rect">
            <a:avLst/>
          </a:prstGeom>
        </p:spPr>
      </p:pic>
      <p:sp>
        <p:nvSpPr>
          <p:cNvPr id="5" name="Mark attendance page frame"/>
          <p:cNvSpPr/>
          <p:nvPr/>
        </p:nvSpPr>
        <p:spPr>
          <a:xfrm>
            <a:off x="4672584" y="1152144"/>
            <a:ext cx="4050792" cy="2434876"/>
          </a:xfrm>
          <a:prstGeom prst="roundRect">
            <a:avLst>
              <a:gd name="adj" fmla="val 3004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pic>
        <p:nvPicPr>
          <p:cNvPr id="6" name="Mark attendance page" descr="Mark attendance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977640" cy="2361724"/>
          </a:xfrm>
          <a:prstGeom prst="rect">
            <a:avLst/>
          </a:prstGeom>
        </p:spPr>
      </p:pic>
      <p:sp>
        <p:nvSpPr>
          <p:cNvPr id="7" name="students caption"/>
          <p:cNvSpPr txBox="1"/>
          <p:nvPr/>
        </p:nvSpPr>
        <p:spPr>
          <a:xfrm>
            <a:off x="457200" y="373332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Students: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 / edit / delete with confirmation; search and class filter; inline validation errors</a:t>
            </a:r>
            <a:endParaRPr lang="en-US" sz="1200" dirty="0"/>
          </a:p>
        </p:txBody>
      </p:sp>
      <p:sp>
        <p:nvSpPr>
          <p:cNvPr id="8" name="mark caption"/>
          <p:cNvSpPr txBox="1"/>
          <p:nvPr/>
        </p:nvSpPr>
        <p:spPr>
          <a:xfrm>
            <a:off x="4709160" y="373332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Mark Attendance: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Present / Late / Absent toggles, live counts, bulk actions, edit a saved session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0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Percentages and low-attendance report</a:t>
            </a:r>
            <a:endParaRPr lang="en-US" sz="3000" dirty="0"/>
          </a:p>
        </p:txBody>
      </p:sp>
      <p:sp>
        <p:nvSpPr>
          <p:cNvPr id="3" name="Reports page frame"/>
          <p:cNvSpPr/>
          <p:nvPr/>
        </p:nvSpPr>
        <p:spPr>
          <a:xfrm>
            <a:off x="420624" y="1152144"/>
            <a:ext cx="5193792" cy="3113532"/>
          </a:xfrm>
          <a:prstGeom prst="roundRect">
            <a:avLst>
              <a:gd name="adj" fmla="val 2349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3">
                <a:alpha val="12000"/>
              </a:srgbClr>
            </a:outerShdw>
          </a:effectLst>
        </p:spPr>
      </p:sp>
      <p:pic>
        <p:nvPicPr>
          <p:cNvPr id="4" name="Reports page" descr="Reports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040380"/>
          </a:xfrm>
          <a:prstGeom prst="rect">
            <a:avLst/>
          </a:prstGeom>
        </p:spPr>
      </p:pic>
      <p:sp>
        <p:nvSpPr>
          <p:cNvPr id="5" name="formula card"/>
          <p:cNvSpPr/>
          <p:nvPr/>
        </p:nvSpPr>
        <p:spPr>
          <a:xfrm>
            <a:off x="5897880" y="1188720"/>
            <a:ext cx="27889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6" name="formula text"/>
          <p:cNvSpPr txBox="1"/>
          <p:nvPr/>
        </p:nvSpPr>
        <p:spPr>
          <a:xfrm>
            <a:off x="6080760" y="12984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Formula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% = (Present + Late) ÷ Total × 100</a:t>
            </a:r>
            <a:endParaRPr lang="en-US" sz="1300" dirty="0"/>
          </a:p>
        </p:txBody>
      </p:sp>
      <p:sp>
        <p:nvSpPr>
          <p:cNvPr id="7" name="low stat"/>
          <p:cNvSpPr txBox="1"/>
          <p:nvPr/>
        </p:nvSpPr>
        <p:spPr>
          <a:xfrm>
            <a:off x="5897880" y="2286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12</a:t>
            </a:r>
            <a:endParaRPr lang="en-US" sz="4000" dirty="0"/>
          </a:p>
        </p:txBody>
      </p:sp>
      <p:sp>
        <p:nvSpPr>
          <p:cNvPr id="8" name="low stat label"/>
          <p:cNvSpPr txBox="1"/>
          <p:nvPr/>
        </p:nvSpPr>
        <p:spPr>
          <a:xfrm>
            <a:off x="5897880" y="28803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demo students fall below 75%</a:t>
            </a:r>
            <a:endParaRPr lang="en-US" sz="1200" dirty="0"/>
          </a:p>
        </p:txBody>
      </p:sp>
      <p:sp>
        <p:nvSpPr>
          <p:cNvPr id="9" name="report features"/>
          <p:cNvSpPr txBox="1"/>
          <p:nvPr/>
        </p:nvSpPr>
        <p:spPr>
          <a:xfrm>
            <a:off x="5897880" y="33375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Threshold slider (50–95%)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Only-low filter, class and date range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“Needs N” classes to recover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Export to CSV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0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 and future scope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complete, responsive React app that meets every requirement: 4 routed pages, CRUD, search and filter, validation, and automatic percentage calculation.</a:t>
            </a:r>
            <a:endParaRPr lang="en-US" sz="1600" dirty="0"/>
          </a:p>
        </p:txBody>
      </p:sp>
      <p:sp>
        <p:nvSpPr>
          <p:cNvPr id="4" name="future card"/>
          <p:cNvSpPr/>
          <p:nvPr/>
        </p:nvSpPr>
        <p:spPr>
          <a:xfrm>
            <a:off x="4937760" y="1234440"/>
            <a:ext cx="3749040" cy="274320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5" name="future text"/>
          <p:cNvSpPr txBox="1"/>
          <p:nvPr/>
        </p:nvSpPr>
        <p:spPr>
          <a:xfrm>
            <a:off x="5166360" y="1417320"/>
            <a:ext cx="3337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Future enhancements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Backend database (Node.js / Firebase)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Teacher login and roles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SMS / email alerts for low attendance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Subject-wise attendance and charts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QR-code self check-in</a:t>
            </a:r>
            <a:endParaRPr lang="en-US" sz="1400" dirty="0"/>
          </a:p>
        </p:txBody>
      </p:sp>
      <p:sp>
        <p:nvSpPr>
          <p:cNvPr id="6" name="github"/>
          <p:cNvSpPr txBox="1"/>
          <p:nvPr/>
        </p:nvSpPr>
        <p:spPr>
          <a:xfrm>
            <a:off x="548640" y="4160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GitHub: github.com/&lt;your-username&gt;/student-attendance-tracker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tendance Navy">
  <a:themeElements>
    <a:clrScheme name="Attendance Navy">
      <a:dk1>
        <a:srgbClr val="1B2433"/>
      </a:dk1>
      <a:lt1>
        <a:srgbClr val="FFFFFF"/>
      </a:lt1>
      <a:dk2>
        <a:srgbClr val="163A5A"/>
      </a:dk2>
      <a:lt2>
        <a:srgbClr val="EEF2F7"/>
      </a:lt2>
      <a:accent1>
        <a:srgbClr val="1F4E79"/>
      </a:accent1>
      <a:accent2>
        <a:srgbClr val="1F8A5B"/>
      </a:accent2>
      <a:accent3>
        <a:srgbClr val="C0392B"/>
      </a:accent3>
      <a:accent4>
        <a:srgbClr val="C27C0E"/>
      </a:accent4>
      <a:accent5>
        <a:srgbClr val="64708A"/>
      </a:accent5>
      <a:accent6>
        <a:srgbClr val="DCE7F3"/>
      </a:accent6>
      <a:hlink>
        <a:srgbClr val="1F4E79"/>
      </a:hlink>
      <a:folHlink>
        <a:srgbClr val="64708A"/>
      </a:folHlink>
    </a:clrScheme>
    <a:fontScheme name="Attendance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Tracker</dc:title>
  <dc:subject>ReactJS mini project</dc:subject>
  <dc:creator>PptxGenJS</dc:creator>
  <cp:lastModifiedBy>PptxGenJS</cp:lastModifiedBy>
  <cp:revision>1</cp:revision>
  <dcterms:created xsi:type="dcterms:W3CDTF">2026-10-08T06:09:30Z</dcterms:created>
  <dcterms:modified xsi:type="dcterms:W3CDTF">2026-10-08T06:09:30Z</dcterms:modified>
</cp:coreProperties>
</file>